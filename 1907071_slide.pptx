
<file path=[Content_Types].xml><?xml version="1.0" encoding="utf-8"?>
<Types xmlns="http://schemas.openxmlformats.org/package/2006/content-types">
  <Default Extension="fntdata" ContentType="application/x-fontdata"/>
  <Default Extension="mkv" ContentType="video/unknown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69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71" r:id="rId10"/>
    <p:sldId id="272" r:id="rId11"/>
    <p:sldId id="274" r:id="rId12"/>
    <p:sldId id="268" r:id="rId13"/>
    <p:sldId id="275" r:id="rId14"/>
  </p:sldIdLst>
  <p:sldSz cx="9144000" cy="5143500" type="screen16x9"/>
  <p:notesSz cx="6858000" cy="9144000"/>
  <p:embeddedFontLst>
    <p:embeddedFont>
      <p:font typeface="Old Standard TT" panose="020B0604020202020204" charset="0"/>
      <p:regular r:id="rId16"/>
      <p:bold r:id="rId17"/>
      <p: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A6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68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e932e21c12_2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e932e21c12_2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e932b4762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e932b4762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e932b47623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e932b47623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e932e21c1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e932e21c1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e932e21c12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e932e21c12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e932e21c12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e932e21c12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e932e21c12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e932e21c12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51983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e932e21c12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e932e21c12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10959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e932e21c12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e932e21c12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66406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e932e21c12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e932e21c12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44586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e932e21c12_2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e932e21c12_2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perback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kv"/><Relationship Id="rId1" Type="http://schemas.microsoft.com/office/2007/relationships/media" Target="../media/media2.mkv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82649D-8ADF-42C9-B561-BD34E64D6C9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</a:t>
            </a:fld>
            <a:endParaRPr lang="en"/>
          </a:p>
        </p:txBody>
      </p:sp>
      <p:sp>
        <p:nvSpPr>
          <p:cNvPr id="3" name="Google Shape;65;p14">
            <a:extLst>
              <a:ext uri="{FF2B5EF4-FFF2-40B4-BE49-F238E27FC236}">
                <a16:creationId xmlns:a16="http://schemas.microsoft.com/office/drawing/2014/main" id="{350BA110-F1ED-454F-9EB1-4ADAB4DE1C78}"/>
              </a:ext>
            </a:extLst>
          </p:cNvPr>
          <p:cNvSpPr txBox="1"/>
          <p:nvPr/>
        </p:nvSpPr>
        <p:spPr>
          <a:xfrm>
            <a:off x="180210" y="1792258"/>
            <a:ext cx="847020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tx1"/>
                </a:solidFill>
              </a:rPr>
              <a:t>Basketball Shot Trajectory Predictor </a:t>
            </a:r>
            <a:endParaRPr lang="en-US"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Google Shape;66;p14">
            <a:extLst>
              <a:ext uri="{FF2B5EF4-FFF2-40B4-BE49-F238E27FC236}">
                <a16:creationId xmlns:a16="http://schemas.microsoft.com/office/drawing/2014/main" id="{093563EC-2005-4A14-B311-B7CF5AA511C3}"/>
              </a:ext>
            </a:extLst>
          </p:cNvPr>
          <p:cNvSpPr txBox="1"/>
          <p:nvPr/>
        </p:nvSpPr>
        <p:spPr>
          <a:xfrm>
            <a:off x="1424780" y="97189"/>
            <a:ext cx="6294000" cy="110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0" u="none" strike="noStrike" cap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</a:t>
            </a:r>
            <a:r>
              <a:rPr lang="en-US" sz="18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4128</a:t>
            </a:r>
            <a:r>
              <a:rPr lang="en-US" sz="1800" i="0" u="none" strike="noStrike" cap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18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solidFill>
                  <a:schemeClr val="tx1"/>
                </a:solidFill>
              </a:rPr>
              <a:t>Image processing and Computer Vision Laboratory</a:t>
            </a:r>
            <a:endParaRPr lang="en-US" sz="180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i="0" u="none" strike="noStrike" cap="none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Google Shape;67;p14" descr="KUET | Khulna University of Engineering &amp; Technology">
            <a:extLst>
              <a:ext uri="{FF2B5EF4-FFF2-40B4-BE49-F238E27FC236}">
                <a16:creationId xmlns:a16="http://schemas.microsoft.com/office/drawing/2014/main" id="{B355A580-8E21-424F-BF20-C733410A3C8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222931" y="895028"/>
            <a:ext cx="697699" cy="83095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69;p14">
            <a:extLst>
              <a:ext uri="{FF2B5EF4-FFF2-40B4-BE49-F238E27FC236}">
                <a16:creationId xmlns:a16="http://schemas.microsoft.com/office/drawing/2014/main" id="{B620F020-FA72-4FE3-99BC-B69110ECDBDB}"/>
              </a:ext>
            </a:extLst>
          </p:cNvPr>
          <p:cNvSpPr txBox="1"/>
          <p:nvPr/>
        </p:nvSpPr>
        <p:spPr>
          <a:xfrm>
            <a:off x="3823333" y="2766507"/>
            <a:ext cx="1689766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 -</a:t>
            </a:r>
            <a:endParaRPr sz="1600" i="0" u="none" strike="noStrike" cap="none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0" u="none" strike="noStrike" cap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" sz="16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obair Al Nahian</a:t>
            </a:r>
            <a:endParaRPr sz="1600" i="0" u="none" strike="noStrike" cap="none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0" u="none" strike="noStrike" cap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</a:t>
            </a:r>
            <a:r>
              <a:rPr lang="en" sz="16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ll: 1907071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Year: 4</a:t>
            </a:r>
            <a:r>
              <a:rPr lang="en" sz="1600" baseline="300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endParaRPr lang="en" sz="160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Semister: 1</a:t>
            </a:r>
            <a:r>
              <a:rPr lang="en" sz="1600" baseline="300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endParaRPr lang="en" sz="160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" sz="160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Google Shape;70;p14">
            <a:extLst>
              <a:ext uri="{FF2B5EF4-FFF2-40B4-BE49-F238E27FC236}">
                <a16:creationId xmlns:a16="http://schemas.microsoft.com/office/drawing/2014/main" id="{CF04F6BC-9C86-41E3-B56C-9AAF4818CB44}"/>
              </a:ext>
            </a:extLst>
          </p:cNvPr>
          <p:cNvSpPr txBox="1"/>
          <p:nvPr/>
        </p:nvSpPr>
        <p:spPr>
          <a:xfrm>
            <a:off x="2512716" y="4578870"/>
            <a:ext cx="43110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0" u="none" strike="noStrike" cap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</a:t>
            </a:r>
            <a:r>
              <a:rPr lang="en" sz="12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</a:t>
            </a:r>
            <a:r>
              <a:rPr lang="en" sz="1200" i="0" u="none" strike="noStrike" cap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Engineering</a:t>
            </a:r>
            <a:endParaRPr sz="110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0" u="none" strike="noStrike" cap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Khulna University of Engineering </a:t>
            </a:r>
            <a:r>
              <a:rPr lang="en" sz="12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</a:t>
            </a:r>
            <a:r>
              <a:rPr lang="en" sz="1200" i="0" u="none" strike="noStrike" cap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Technology</a:t>
            </a:r>
            <a:endParaRPr sz="1200" i="0" u="none" strike="noStrike" cap="none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91251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Arial"/>
                <a:ea typeface="Arial"/>
                <a:cs typeface="Arial"/>
                <a:sym typeface="Arial"/>
              </a:rPr>
              <a:t>Contents of Presentation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lang="en" sz="2300">
                <a:latin typeface="Arial"/>
                <a:ea typeface="Arial"/>
                <a:cs typeface="Arial"/>
                <a:sym typeface="Arial"/>
              </a:rPr>
              <a:t>Introduction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lang="en" sz="2300">
                <a:latin typeface="Arial"/>
                <a:ea typeface="Arial"/>
                <a:cs typeface="Arial"/>
                <a:sym typeface="Arial"/>
              </a:rPr>
              <a:t>Objectives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lang="en" sz="2300">
                <a:latin typeface="Arial"/>
                <a:ea typeface="Arial"/>
                <a:cs typeface="Arial"/>
                <a:sym typeface="Arial"/>
              </a:rPr>
              <a:t>Methodology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lang="en" sz="2300">
                <a:latin typeface="Arial"/>
                <a:ea typeface="Arial"/>
                <a:cs typeface="Arial"/>
                <a:sym typeface="Arial"/>
              </a:rPr>
              <a:t>Result 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lang="en" sz="2300">
                <a:latin typeface="Arial"/>
                <a:ea typeface="Arial"/>
                <a:cs typeface="Arial"/>
                <a:sym typeface="Arial"/>
              </a:rPr>
              <a:t>Recorded Project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lang="en" sz="2300">
                <a:latin typeface="Arial"/>
                <a:ea typeface="Arial"/>
                <a:cs typeface="Arial"/>
                <a:sym typeface="Arial"/>
              </a:rPr>
              <a:t>Conclusion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00" b="1" dirty="0">
                <a:latin typeface="Arial"/>
                <a:ea typeface="Arial"/>
                <a:cs typeface="Arial"/>
                <a:sym typeface="Arial"/>
              </a:rPr>
              <a:t>Introduction</a:t>
            </a:r>
            <a:endParaRPr sz="28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52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Traditional ways of predicting basketball shot trajectories are not accurate or consistent because they rely on subjective judgments.</a:t>
            </a: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Utilize Image Processing to track and predict the trajectory of a basketball in video footage.</a:t>
            </a:r>
          </a:p>
        </p:txBody>
      </p:sp>
      <p:sp>
        <p:nvSpPr>
          <p:cNvPr id="76" name="Google Shape;76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77" name="Google Shape;77;p15"/>
          <p:cNvSpPr txBox="1"/>
          <p:nvPr/>
        </p:nvSpPr>
        <p:spPr>
          <a:xfrm>
            <a:off x="5662684" y="3554389"/>
            <a:ext cx="26403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Fig 1: Basket ball trajectory </a:t>
            </a:r>
            <a:r>
              <a:rPr lang="en-US" sz="1100" dirty="0" err="1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Predicton</a:t>
            </a:r>
            <a:r>
              <a:rPr lang="en-US" sz="1100" dirty="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0F26FA-1D60-49DC-9699-5A30E91E514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408" t="57000" r="78236" b="17254"/>
          <a:stretch/>
        </p:blipFill>
        <p:spPr>
          <a:xfrm>
            <a:off x="5218860" y="1589111"/>
            <a:ext cx="3527948" cy="19652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latin typeface="Arial"/>
                <a:ea typeface="Arial"/>
                <a:cs typeface="Arial"/>
                <a:sym typeface="Arial"/>
              </a:rPr>
              <a:t>Objectives</a:t>
            </a:r>
            <a:endParaRPr sz="28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" sz="2400" dirty="0">
                <a:latin typeface="Arial"/>
                <a:ea typeface="Arial"/>
                <a:cs typeface="Arial"/>
                <a:sym typeface="Arial"/>
              </a:rPr>
              <a:t>Taking image frames from the video.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" sz="2400" dirty="0">
                <a:latin typeface="Arial"/>
                <a:ea typeface="Arial"/>
                <a:cs typeface="Arial"/>
                <a:sym typeface="Arial"/>
              </a:rPr>
              <a:t>Process it by different image processing techniques.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" sz="2400" dirty="0">
                <a:latin typeface="Arial"/>
                <a:ea typeface="Arial"/>
                <a:cs typeface="Arial"/>
                <a:sym typeface="Arial"/>
              </a:rPr>
              <a:t>Determine the basketball’s trajectory.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" sz="2400" dirty="0">
                <a:latin typeface="Arial"/>
                <a:ea typeface="Arial"/>
                <a:cs typeface="Arial"/>
                <a:sym typeface="Arial"/>
              </a:rPr>
              <a:t>redict Weather the ball will make basket or not. </a:t>
            </a: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>
            <a:off x="320775" y="1007100"/>
            <a:ext cx="4484700" cy="33179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 sz="2000" b="1" dirty="0">
                <a:latin typeface="Arial"/>
                <a:ea typeface="Arial"/>
                <a:cs typeface="Arial"/>
                <a:sym typeface="Arial"/>
              </a:rPr>
              <a:t>Video Capture and Frame Extraction:</a:t>
            </a:r>
            <a:endParaRPr sz="20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46075" algn="l" rtl="0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 sz="2000" dirty="0">
                <a:latin typeface="Arial"/>
                <a:ea typeface="Arial"/>
                <a:cs typeface="Arial"/>
                <a:sym typeface="Arial"/>
              </a:rPr>
              <a:t>Captured a video from a predefined source.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46075" algn="l" rtl="0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 sz="2000" dirty="0">
                <a:latin typeface="Arial"/>
                <a:ea typeface="Arial"/>
                <a:cs typeface="Arial"/>
                <a:sym typeface="Arial"/>
              </a:rPr>
              <a:t>Extract the frame images from the video for further processing.</a:t>
            </a:r>
          </a:p>
          <a:p>
            <a:pPr marL="457200" lvl="0" indent="-346075" algn="l" rtl="0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 sz="2000" dirty="0">
                <a:latin typeface="Arial"/>
                <a:ea typeface="Arial"/>
                <a:cs typeface="Arial"/>
                <a:sym typeface="Arial"/>
              </a:rPr>
              <a:t>Crop the image as needed.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91" name="Google Shape;91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93" name="Google Shape;93;p17"/>
          <p:cNvSpPr txBox="1"/>
          <p:nvPr/>
        </p:nvSpPr>
        <p:spPr>
          <a:xfrm>
            <a:off x="5485058" y="4128245"/>
            <a:ext cx="29874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1"/>
                </a:solidFill>
                <a:latin typeface="+mn-lt"/>
                <a:ea typeface="Old Standard TT"/>
                <a:cs typeface="Old Standard TT"/>
                <a:sym typeface="Old Standard TT"/>
              </a:rPr>
              <a:t>Fig 2: basket ball throwing video</a:t>
            </a:r>
            <a:endParaRPr sz="1500" dirty="0">
              <a:solidFill>
                <a:schemeClr val="dk1"/>
              </a:solidFill>
              <a:latin typeface="+mn-l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7" name="Google Shape;82;p16">
            <a:extLst>
              <a:ext uri="{FF2B5EF4-FFF2-40B4-BE49-F238E27FC236}">
                <a16:creationId xmlns:a16="http://schemas.microsoft.com/office/drawing/2014/main" id="{1BD5AC6D-6789-4071-9DA5-C2EC0AFD94D2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r>
              <a:rPr lang="en" sz="2800" b="1" dirty="0">
                <a:latin typeface="Arial"/>
                <a:ea typeface="Arial"/>
                <a:cs typeface="Arial"/>
                <a:sym typeface="Arial"/>
              </a:rPr>
              <a:t>Methodology</a:t>
            </a:r>
            <a:endParaRPr lang="en-US" sz="2800" b="1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vid (3)">
            <a:hlinkClick r:id="" action="ppaction://media"/>
            <a:extLst>
              <a:ext uri="{FF2B5EF4-FFF2-40B4-BE49-F238E27FC236}">
                <a16:creationId xmlns:a16="http://schemas.microsoft.com/office/drawing/2014/main" id="{92E94587-0109-4F49-B40D-C4D06D49A31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072584" y="867541"/>
            <a:ext cx="3657600" cy="303862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66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video>
              <p:cMediaNode vol="80000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Arial"/>
                <a:ea typeface="Arial"/>
                <a:cs typeface="Arial"/>
                <a:sym typeface="Arial"/>
              </a:rPr>
              <a:t>Methodology..</a:t>
            </a:r>
            <a:endParaRPr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8"/>
          <p:cNvSpPr txBox="1">
            <a:spLocks noGrp="1"/>
          </p:cNvSpPr>
          <p:nvPr>
            <p:ph type="body" idx="1"/>
          </p:nvPr>
        </p:nvSpPr>
        <p:spPr>
          <a:xfrm>
            <a:off x="777277" y="927401"/>
            <a:ext cx="4467203" cy="36213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2380"/>
              <a:buFont typeface="Arial"/>
              <a:buNone/>
            </a:pPr>
            <a:r>
              <a:rPr lang="en" sz="2100" b="1" dirty="0">
                <a:latin typeface="Arial"/>
                <a:ea typeface="Arial"/>
                <a:cs typeface="Arial"/>
                <a:sym typeface="Arial"/>
              </a:rPr>
              <a:t>Basketball Detection using color:</a:t>
            </a:r>
            <a:endParaRPr sz="21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51948" algn="l" rtl="0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 sz="2100" dirty="0">
                <a:latin typeface="Arial"/>
                <a:ea typeface="Arial"/>
                <a:cs typeface="Arial"/>
                <a:sym typeface="Arial"/>
              </a:rPr>
              <a:t>Detecting ball by color finder hsv values.</a:t>
            </a:r>
          </a:p>
          <a:p>
            <a:pPr marL="457200" lvl="0" indent="-351948" algn="l" rtl="0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US" sz="2100" dirty="0">
                <a:latin typeface="Arial"/>
                <a:ea typeface="Arial"/>
                <a:cs typeface="Arial"/>
                <a:sym typeface="Arial"/>
              </a:rPr>
              <a:t>Converted the image from BGR to HSV color space. </a:t>
            </a:r>
          </a:p>
          <a:p>
            <a:pPr marL="457200" lvl="0" indent="-351948" algn="l" rtl="0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US" sz="2100" dirty="0">
                <a:latin typeface="Arial"/>
                <a:ea typeface="Arial"/>
                <a:cs typeface="Arial"/>
                <a:sym typeface="Arial"/>
              </a:rPr>
              <a:t>Created a mask to isolate the ball's color. </a:t>
            </a:r>
          </a:p>
          <a:p>
            <a:pPr marL="457200" lvl="0" indent="-351948" algn="l" rtl="0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US" sz="2100" dirty="0">
                <a:latin typeface="Arial"/>
                <a:ea typeface="Arial"/>
                <a:cs typeface="Arial"/>
                <a:sym typeface="Arial"/>
              </a:rPr>
              <a:t>Applying the mask to the original image to get the color segmented image</a:t>
            </a:r>
            <a:endParaRPr lang="en-US" dirty="0"/>
          </a:p>
        </p:txBody>
      </p:sp>
      <p:sp>
        <p:nvSpPr>
          <p:cNvPr id="100" name="Google Shape;100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102" name="Google Shape;102;p18"/>
          <p:cNvSpPr txBox="1"/>
          <p:nvPr/>
        </p:nvSpPr>
        <p:spPr>
          <a:xfrm>
            <a:off x="5526497" y="4116549"/>
            <a:ext cx="3056849" cy="3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dk1"/>
                </a:solidFill>
                <a:latin typeface="+mj-lt"/>
                <a:ea typeface="Old Standard TT"/>
                <a:cs typeface="Old Standard TT"/>
                <a:sym typeface="Old Standard TT"/>
              </a:rPr>
              <a:t>F</a:t>
            </a:r>
            <a:r>
              <a:rPr lang="en" sz="1500" dirty="0">
                <a:solidFill>
                  <a:schemeClr val="dk1"/>
                </a:solidFill>
                <a:latin typeface="+mj-lt"/>
                <a:ea typeface="Old Standard TT"/>
                <a:cs typeface="Old Standard TT"/>
                <a:sym typeface="Old Standard TT"/>
              </a:rPr>
              <a:t>ig 3.2: color segmented image</a:t>
            </a:r>
            <a:endParaRPr sz="1500" dirty="0">
              <a:solidFill>
                <a:schemeClr val="dk1"/>
              </a:solidFill>
              <a:latin typeface="+mj-l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5276EB-C0F0-4BA9-8FCA-7141B2195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1721" y="2634007"/>
            <a:ext cx="2049778" cy="15326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3E61918-5D2C-452D-B5AF-8B8F9D29AB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6390" y="751625"/>
            <a:ext cx="2065109" cy="1513525"/>
          </a:xfrm>
          <a:prstGeom prst="rect">
            <a:avLst/>
          </a:prstGeom>
        </p:spPr>
      </p:pic>
      <p:sp>
        <p:nvSpPr>
          <p:cNvPr id="11" name="Google Shape;102;p18">
            <a:extLst>
              <a:ext uri="{FF2B5EF4-FFF2-40B4-BE49-F238E27FC236}">
                <a16:creationId xmlns:a16="http://schemas.microsoft.com/office/drawing/2014/main" id="{86C8F7C2-BED3-4056-A075-69A14F1CE152}"/>
              </a:ext>
            </a:extLst>
          </p:cNvPr>
          <p:cNvSpPr txBox="1"/>
          <p:nvPr/>
        </p:nvSpPr>
        <p:spPr>
          <a:xfrm>
            <a:off x="5244481" y="2231835"/>
            <a:ext cx="3388926" cy="3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dk1"/>
                </a:solidFill>
                <a:latin typeface="+mj-lt"/>
                <a:ea typeface="Old Standard TT"/>
                <a:cs typeface="Old Standard TT"/>
                <a:sym typeface="Old Standard TT"/>
              </a:rPr>
              <a:t>F</a:t>
            </a:r>
            <a:r>
              <a:rPr lang="en" sz="1500" dirty="0">
                <a:solidFill>
                  <a:schemeClr val="dk1"/>
                </a:solidFill>
                <a:latin typeface="+mj-lt"/>
                <a:ea typeface="Old Standard TT"/>
                <a:cs typeface="Old Standard TT"/>
                <a:sym typeface="Old Standard TT"/>
              </a:rPr>
              <a:t>ig 3.1: Mask image to isolate the ball</a:t>
            </a:r>
            <a:endParaRPr sz="1500" dirty="0">
              <a:solidFill>
                <a:schemeClr val="dk1"/>
              </a:solidFill>
              <a:latin typeface="+mj-l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n" b="1" dirty="0">
                <a:latin typeface="Arial"/>
                <a:ea typeface="Arial"/>
                <a:cs typeface="Arial"/>
                <a:sym typeface="Arial"/>
              </a:rPr>
              <a:t>Methodology..</a:t>
            </a:r>
            <a:endParaRPr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endParaRPr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9" name="Google Shape;109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8DCFF1-3A84-486C-88AF-3FABC56CC7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8506" y="1496186"/>
            <a:ext cx="2668216" cy="2265701"/>
          </a:xfrm>
          <a:prstGeom prst="rect">
            <a:avLst/>
          </a:prstGeom>
        </p:spPr>
      </p:pic>
      <p:sp>
        <p:nvSpPr>
          <p:cNvPr id="14" name="Google Shape;102;p18">
            <a:extLst>
              <a:ext uri="{FF2B5EF4-FFF2-40B4-BE49-F238E27FC236}">
                <a16:creationId xmlns:a16="http://schemas.microsoft.com/office/drawing/2014/main" id="{50CC55A8-1D33-4798-BCD5-4D7C3DA7F9B1}"/>
              </a:ext>
            </a:extLst>
          </p:cNvPr>
          <p:cNvSpPr txBox="1"/>
          <p:nvPr/>
        </p:nvSpPr>
        <p:spPr>
          <a:xfrm>
            <a:off x="5544767" y="3808817"/>
            <a:ext cx="3388926" cy="3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dk1"/>
                </a:solidFill>
                <a:latin typeface="+mj-lt"/>
                <a:ea typeface="Old Standard TT"/>
                <a:cs typeface="Old Standard TT"/>
                <a:sym typeface="Old Standard TT"/>
              </a:rPr>
              <a:t>F</a:t>
            </a:r>
            <a:r>
              <a:rPr lang="en" sz="1500" dirty="0">
                <a:solidFill>
                  <a:schemeClr val="dk1"/>
                </a:solidFill>
                <a:latin typeface="+mj-lt"/>
                <a:ea typeface="Old Standard TT"/>
                <a:cs typeface="Old Standard TT"/>
                <a:sym typeface="Old Standard TT"/>
              </a:rPr>
              <a:t>ig 4: contour points of the mask.</a:t>
            </a:r>
            <a:endParaRPr sz="1500" dirty="0">
              <a:solidFill>
                <a:schemeClr val="dk1"/>
              </a:solidFill>
              <a:latin typeface="+mj-l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5" name="Google Shape;99;p18">
            <a:extLst>
              <a:ext uri="{FF2B5EF4-FFF2-40B4-BE49-F238E27FC236}">
                <a16:creationId xmlns:a16="http://schemas.microsoft.com/office/drawing/2014/main" id="{9688FB4D-CC96-40FD-ADC1-0158D1E063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7278" y="1131851"/>
            <a:ext cx="4467203" cy="29172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2380"/>
              <a:buFont typeface="Arial"/>
              <a:buNone/>
            </a:pPr>
            <a:r>
              <a:rPr lang="en" sz="1900" b="1" dirty="0">
                <a:latin typeface="Arial"/>
                <a:ea typeface="Arial"/>
                <a:cs typeface="Arial"/>
                <a:sym typeface="Arial"/>
              </a:rPr>
              <a:t>Contour Detection:</a:t>
            </a:r>
            <a:endParaRPr sz="19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51948" algn="l" rtl="0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 sz="1900" dirty="0">
                <a:latin typeface="Arial"/>
                <a:cs typeface="Arial"/>
                <a:sym typeface="Arial"/>
              </a:rPr>
              <a:t>Apply canny edge detection on the mask.</a:t>
            </a:r>
          </a:p>
          <a:p>
            <a:pPr marL="457200" lvl="0" indent="-351948" algn="l" rtl="0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US" sz="1900" dirty="0">
                <a:latin typeface="+mj-lt"/>
              </a:rPr>
              <a:t>Iterate over each pixel in the edge-detected image.</a:t>
            </a:r>
          </a:p>
          <a:p>
            <a:pPr marL="457200" lvl="0" indent="-351948" algn="l" rtl="0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US" sz="1900" dirty="0">
                <a:latin typeface="+mj-lt"/>
              </a:rPr>
              <a:t>Trace contour points from each non-zero pixel neighbors pixel.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n" b="1" dirty="0">
                <a:latin typeface="Arial"/>
                <a:ea typeface="Arial"/>
                <a:cs typeface="Arial"/>
                <a:sym typeface="Arial"/>
              </a:rPr>
              <a:t>Methodology..</a:t>
            </a:r>
            <a:endParaRPr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endParaRPr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9" name="Google Shape;109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0514A3-FE49-4A37-800A-AB3FD6A5084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138" r="8367"/>
          <a:stretch/>
        </p:blipFill>
        <p:spPr>
          <a:xfrm>
            <a:off x="5607276" y="768252"/>
            <a:ext cx="2244255" cy="1661219"/>
          </a:xfrm>
          <a:prstGeom prst="rect">
            <a:avLst/>
          </a:prstGeom>
        </p:spPr>
      </p:pic>
      <p:sp>
        <p:nvSpPr>
          <p:cNvPr id="10" name="Google Shape;99;p18">
            <a:extLst>
              <a:ext uri="{FF2B5EF4-FFF2-40B4-BE49-F238E27FC236}">
                <a16:creationId xmlns:a16="http://schemas.microsoft.com/office/drawing/2014/main" id="{247DF886-D257-42B6-9C39-78622CBDBB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7278" y="1131851"/>
            <a:ext cx="4467203" cy="29172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2380"/>
              <a:buFont typeface="Arial"/>
              <a:buNone/>
            </a:pPr>
            <a:r>
              <a:rPr lang="en" sz="1900" b="1" dirty="0">
                <a:latin typeface="Arial"/>
                <a:ea typeface="Arial"/>
                <a:cs typeface="Arial"/>
                <a:sym typeface="Arial"/>
              </a:rPr>
              <a:t>Contour Detection(cont.):</a:t>
            </a:r>
            <a:endParaRPr sz="19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51948" algn="l" rtl="0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US" sz="1900" dirty="0">
                <a:latin typeface="Arial"/>
                <a:cs typeface="Arial"/>
                <a:sym typeface="Arial"/>
              </a:rPr>
              <a:t>F</a:t>
            </a:r>
            <a:r>
              <a:rPr lang="en" sz="1900" dirty="0">
                <a:latin typeface="Arial"/>
                <a:cs typeface="Arial"/>
                <a:sym typeface="Arial"/>
              </a:rPr>
              <a:t>ind contour points.</a:t>
            </a:r>
          </a:p>
          <a:p>
            <a:pPr marL="457200" lvl="0" indent="-351948" algn="l" rtl="0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 sz="1900" dirty="0">
                <a:latin typeface="Arial"/>
                <a:cs typeface="Arial"/>
                <a:sym typeface="Arial"/>
              </a:rPr>
              <a:t>Filter contours by area.</a:t>
            </a:r>
          </a:p>
          <a:p>
            <a:pPr marL="457200" lvl="0" indent="-351948" algn="l" rtl="0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 sz="1900" dirty="0">
                <a:latin typeface="Arial"/>
                <a:cs typeface="Arial"/>
                <a:sym typeface="Arial"/>
              </a:rPr>
              <a:t>Extract contour details like area, center points.</a:t>
            </a:r>
          </a:p>
          <a:p>
            <a:pPr marL="457200" lvl="0" indent="-351948" algn="l" rtl="0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 sz="1900" dirty="0">
                <a:latin typeface="Arial"/>
                <a:cs typeface="Arial"/>
                <a:sym typeface="Arial"/>
              </a:rPr>
              <a:t>Draw Contours around the ball.</a:t>
            </a:r>
          </a:p>
        </p:txBody>
      </p:sp>
      <p:sp>
        <p:nvSpPr>
          <p:cNvPr id="12" name="Google Shape;102;p18">
            <a:extLst>
              <a:ext uri="{FF2B5EF4-FFF2-40B4-BE49-F238E27FC236}">
                <a16:creationId xmlns:a16="http://schemas.microsoft.com/office/drawing/2014/main" id="{18C06C6D-4008-4A3C-B810-D2DEEABB88FC}"/>
              </a:ext>
            </a:extLst>
          </p:cNvPr>
          <p:cNvSpPr txBox="1"/>
          <p:nvPr/>
        </p:nvSpPr>
        <p:spPr>
          <a:xfrm>
            <a:off x="5034940" y="2352347"/>
            <a:ext cx="3641848" cy="3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+mj-lt"/>
                <a:ea typeface="Old Standard TT"/>
                <a:cs typeface="Old Standard TT"/>
                <a:sym typeface="Old Standard TT"/>
              </a:rPr>
              <a:t>F</a:t>
            </a:r>
            <a:r>
              <a:rPr lang="en" sz="1200" dirty="0">
                <a:solidFill>
                  <a:schemeClr val="dk1"/>
                </a:solidFill>
                <a:latin typeface="+mj-lt"/>
                <a:ea typeface="Old Standard TT"/>
                <a:cs typeface="Old Standard TT"/>
                <a:sym typeface="Old Standard TT"/>
              </a:rPr>
              <a:t>ig 5.1: contour points around the ball.</a:t>
            </a:r>
            <a:endParaRPr sz="1200" dirty="0">
              <a:solidFill>
                <a:schemeClr val="dk1"/>
              </a:solidFill>
              <a:latin typeface="+mj-l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0EDFB7-E28B-4588-B342-3377A9C4A09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2275" t="7967" r="7444" b="3904"/>
          <a:stretch/>
        </p:blipFill>
        <p:spPr>
          <a:xfrm>
            <a:off x="5607275" y="2752698"/>
            <a:ext cx="2244255" cy="1524134"/>
          </a:xfrm>
          <a:prstGeom prst="rect">
            <a:avLst/>
          </a:prstGeom>
        </p:spPr>
      </p:pic>
      <p:sp>
        <p:nvSpPr>
          <p:cNvPr id="14" name="Google Shape;102;p18">
            <a:extLst>
              <a:ext uri="{FF2B5EF4-FFF2-40B4-BE49-F238E27FC236}">
                <a16:creationId xmlns:a16="http://schemas.microsoft.com/office/drawing/2014/main" id="{9CF6C8F1-CD8A-44E5-BAEE-C87A954C3E9E}"/>
              </a:ext>
            </a:extLst>
          </p:cNvPr>
          <p:cNvSpPr txBox="1"/>
          <p:nvPr/>
        </p:nvSpPr>
        <p:spPr>
          <a:xfrm>
            <a:off x="4778908" y="4294475"/>
            <a:ext cx="4053392" cy="3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+mj-lt"/>
                <a:ea typeface="Old Standard TT"/>
                <a:cs typeface="Old Standard TT"/>
                <a:sym typeface="Old Standard TT"/>
              </a:rPr>
              <a:t>F</a:t>
            </a:r>
            <a:r>
              <a:rPr lang="en" sz="1200" dirty="0">
                <a:solidFill>
                  <a:schemeClr val="dk1"/>
                </a:solidFill>
                <a:latin typeface="+mj-lt"/>
                <a:ea typeface="Old Standard TT"/>
                <a:cs typeface="Old Standard TT"/>
                <a:sym typeface="Old Standard TT"/>
              </a:rPr>
              <a:t>ig 5.2: center points of the ball in different frames.</a:t>
            </a:r>
            <a:endParaRPr sz="1200" dirty="0">
              <a:solidFill>
                <a:schemeClr val="dk1"/>
              </a:solidFill>
              <a:latin typeface="+mj-lt"/>
              <a:ea typeface="Old Standard TT"/>
              <a:cs typeface="Old Standard TT"/>
              <a:sym typeface="Old Standard TT"/>
            </a:endParaRPr>
          </a:p>
        </p:txBody>
      </p:sp>
    </p:spTree>
    <p:extLst>
      <p:ext uri="{BB962C8B-B14F-4D97-AF65-F5344CB8AC3E}">
        <p14:creationId xmlns:p14="http://schemas.microsoft.com/office/powerpoint/2010/main" val="2415868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n" b="1" dirty="0">
                <a:latin typeface="Arial"/>
                <a:ea typeface="Arial"/>
                <a:cs typeface="Arial"/>
                <a:sym typeface="Arial"/>
              </a:rPr>
              <a:t>Methodology..</a:t>
            </a:r>
            <a:endParaRPr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endParaRPr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9" name="Google Shape;109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14" name="Google Shape;102;p18">
            <a:extLst>
              <a:ext uri="{FF2B5EF4-FFF2-40B4-BE49-F238E27FC236}">
                <a16:creationId xmlns:a16="http://schemas.microsoft.com/office/drawing/2014/main" id="{50CC55A8-1D33-4798-BCD5-4D7C3DA7F9B1}"/>
              </a:ext>
            </a:extLst>
          </p:cNvPr>
          <p:cNvSpPr txBox="1"/>
          <p:nvPr/>
        </p:nvSpPr>
        <p:spPr>
          <a:xfrm>
            <a:off x="5291203" y="3908853"/>
            <a:ext cx="3914505" cy="3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+mj-lt"/>
                <a:ea typeface="Old Standard TT"/>
                <a:cs typeface="Old Standard TT"/>
                <a:sym typeface="Old Standard TT"/>
              </a:rPr>
              <a:t>F</a:t>
            </a:r>
            <a:r>
              <a:rPr lang="en" sz="1200" dirty="0">
                <a:solidFill>
                  <a:schemeClr val="dk1"/>
                </a:solidFill>
                <a:latin typeface="+mj-lt"/>
                <a:ea typeface="Old Standard TT"/>
                <a:cs typeface="Old Standard TT"/>
                <a:sym typeface="Old Standard TT"/>
              </a:rPr>
              <a:t>ig 6: Regression curve from initial center points.</a:t>
            </a:r>
            <a:endParaRPr sz="1200" dirty="0">
              <a:solidFill>
                <a:schemeClr val="dk1"/>
              </a:solidFill>
              <a:latin typeface="+mj-l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5" name="Google Shape;99;p18">
            <a:extLst>
              <a:ext uri="{FF2B5EF4-FFF2-40B4-BE49-F238E27FC236}">
                <a16:creationId xmlns:a16="http://schemas.microsoft.com/office/drawing/2014/main" id="{9688FB4D-CC96-40FD-ADC1-0158D1E063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7278" y="1131851"/>
            <a:ext cx="4729145" cy="33600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2380"/>
              <a:buFont typeface="Arial"/>
              <a:buNone/>
            </a:pPr>
            <a:r>
              <a:rPr lang="en" sz="1900" b="1" dirty="0">
                <a:latin typeface="Arial"/>
                <a:ea typeface="Arial"/>
                <a:cs typeface="Arial"/>
                <a:sym typeface="Arial"/>
              </a:rPr>
              <a:t>Trajectory Prediction:</a:t>
            </a:r>
            <a:endParaRPr sz="19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51948" algn="l" rtl="0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US" sz="1900" dirty="0">
                <a:latin typeface="Arial"/>
                <a:cs typeface="Arial"/>
                <a:sym typeface="Arial"/>
              </a:rPr>
              <a:t>Use polynomial regression to fit a curve to the ball’s initial center positions. </a:t>
            </a:r>
          </a:p>
          <a:p>
            <a:pPr marL="457200" lvl="0" indent="-351948" algn="l" rtl="0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US" sz="1900" dirty="0">
                <a:latin typeface="Arial"/>
                <a:cs typeface="Arial"/>
                <a:sym typeface="Arial"/>
              </a:rPr>
              <a:t>The Polynomial equation of degree 2 is y=Ax2+Bx+C where A,B and C are the coefficients of the polynomial. </a:t>
            </a:r>
          </a:p>
          <a:p>
            <a:pPr marL="457200" lvl="0" indent="-351948" algn="l" rtl="0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US" sz="1900" dirty="0">
                <a:latin typeface="Arial"/>
                <a:cs typeface="Arial"/>
                <a:sym typeface="Arial"/>
              </a:rPr>
              <a:t>Using coefficients the future trajectory is calculated.</a:t>
            </a:r>
          </a:p>
          <a:p>
            <a:pPr marL="457200" lvl="0" indent="-351948" algn="l" rtl="0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endParaRPr lang="en-US" sz="1900" dirty="0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0F5B4D-BEC1-41F7-9986-9593E316B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9192" y="1823706"/>
            <a:ext cx="2853359" cy="208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581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Result</a:t>
            </a:r>
            <a:endParaRPr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endParaRPr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9" name="Google Shape;109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14" name="Google Shape;102;p18">
            <a:extLst>
              <a:ext uri="{FF2B5EF4-FFF2-40B4-BE49-F238E27FC236}">
                <a16:creationId xmlns:a16="http://schemas.microsoft.com/office/drawing/2014/main" id="{50CC55A8-1D33-4798-BCD5-4D7C3DA7F9B1}"/>
              </a:ext>
            </a:extLst>
          </p:cNvPr>
          <p:cNvSpPr txBox="1"/>
          <p:nvPr/>
        </p:nvSpPr>
        <p:spPr>
          <a:xfrm>
            <a:off x="851525" y="4361717"/>
            <a:ext cx="3236641" cy="3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+mj-lt"/>
                <a:ea typeface="Old Standard TT"/>
                <a:cs typeface="Old Standard TT"/>
                <a:sym typeface="Old Standard TT"/>
              </a:rPr>
              <a:t>F</a:t>
            </a:r>
            <a:r>
              <a:rPr lang="en" sz="1200" dirty="0">
                <a:solidFill>
                  <a:schemeClr val="dk1"/>
                </a:solidFill>
                <a:latin typeface="+mj-lt"/>
                <a:ea typeface="Old Standard TT"/>
                <a:cs typeface="Old Standard TT"/>
                <a:sym typeface="Old Standard TT"/>
              </a:rPr>
              <a:t>ig 7: Result when the ball will make basket</a:t>
            </a:r>
            <a:endParaRPr sz="1200" dirty="0">
              <a:solidFill>
                <a:schemeClr val="dk1"/>
              </a:solidFill>
              <a:latin typeface="+mj-l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5" name="Google Shape;99;p18">
            <a:extLst>
              <a:ext uri="{FF2B5EF4-FFF2-40B4-BE49-F238E27FC236}">
                <a16:creationId xmlns:a16="http://schemas.microsoft.com/office/drawing/2014/main" id="{9688FB4D-CC96-40FD-ADC1-0158D1E063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2645" y="611243"/>
            <a:ext cx="7493583" cy="33600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2380"/>
              <a:buFont typeface="Arial"/>
              <a:buNone/>
            </a:pPr>
            <a:r>
              <a:rPr lang="en" sz="1900" b="1" dirty="0">
                <a:latin typeface="Arial"/>
                <a:ea typeface="Arial"/>
                <a:cs typeface="Arial"/>
                <a:sym typeface="Arial"/>
              </a:rPr>
              <a:t>Display the result:</a:t>
            </a:r>
            <a:endParaRPr sz="19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51948" algn="l" rtl="0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US" sz="1900" dirty="0">
                <a:latin typeface="Arial"/>
                <a:cs typeface="Arial"/>
                <a:sym typeface="Arial"/>
              </a:rPr>
              <a:t>Using the basket’s position the and the trajectory it is predicted that will it make it into the hoop.</a:t>
            </a:r>
          </a:p>
          <a:p>
            <a:pPr marL="457200" lvl="0" indent="-351948" algn="l" rtl="0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endParaRPr lang="en-US" sz="1900" dirty="0">
              <a:latin typeface="Arial"/>
              <a:cs typeface="Arial"/>
              <a:sym typeface="Arial"/>
            </a:endParaRPr>
          </a:p>
          <a:p>
            <a:pPr marL="457200" lvl="0" indent="-351948" algn="l" rtl="0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endParaRPr lang="en-US" sz="1900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345FFF-517A-40EC-BA62-E838F76C7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90" y="2163223"/>
            <a:ext cx="3008466" cy="219849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C48A3D-F33D-44D1-99F2-B0438DAE9054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8755" y="2163223"/>
            <a:ext cx="3113750" cy="219849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02;p18">
            <a:extLst>
              <a:ext uri="{FF2B5EF4-FFF2-40B4-BE49-F238E27FC236}">
                <a16:creationId xmlns:a16="http://schemas.microsoft.com/office/drawing/2014/main" id="{3D8C8E70-FA49-4836-AF19-602D581270B0}"/>
              </a:ext>
            </a:extLst>
          </p:cNvPr>
          <p:cNvSpPr txBox="1"/>
          <p:nvPr/>
        </p:nvSpPr>
        <p:spPr>
          <a:xfrm>
            <a:off x="4557954" y="4361717"/>
            <a:ext cx="3444716" cy="3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+mj-lt"/>
                <a:ea typeface="Old Standard TT"/>
                <a:cs typeface="Old Standard TT"/>
                <a:sym typeface="Old Standard TT"/>
              </a:rPr>
              <a:t>Fig 8: Result when the ball will not make basket</a:t>
            </a:r>
          </a:p>
        </p:txBody>
      </p:sp>
    </p:spTree>
    <p:extLst>
      <p:ext uri="{BB962C8B-B14F-4D97-AF65-F5344CB8AC3E}">
        <p14:creationId xmlns:p14="http://schemas.microsoft.com/office/powerpoint/2010/main" val="3020617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>
            <a:spLocks noGrp="1"/>
          </p:cNvSpPr>
          <p:nvPr>
            <p:ph type="title"/>
          </p:nvPr>
        </p:nvSpPr>
        <p:spPr>
          <a:xfrm>
            <a:off x="226208" y="284838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Recorded Project..</a:t>
            </a:r>
            <a:endParaRPr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endParaRPr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9" name="Google Shape;109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pic>
        <p:nvPicPr>
          <p:cNvPr id="5" name="project record">
            <a:hlinkClick r:id="" action="ppaction://media"/>
            <a:extLst>
              <a:ext uri="{FF2B5EF4-FFF2-40B4-BE49-F238E27FC236}">
                <a16:creationId xmlns:a16="http://schemas.microsoft.com/office/drawing/2014/main" id="{2337F284-F53E-48AC-8649-2FEDD65D0A2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2245" y="825631"/>
            <a:ext cx="7308526" cy="4111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113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03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120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This project focuses on predicting basketball trajectories using image processing techniques, automating the detection process.</a:t>
            </a:r>
          </a:p>
          <a:p>
            <a:pPr marL="457200" lvl="0" indent="-355600" algn="l" rtl="0">
              <a:spcBef>
                <a:spcPts val="120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It employs edge detection, custom contour tracing, and filtering to accurately identify and highlight the basketball's position.</a:t>
            </a:r>
          </a:p>
          <a:p>
            <a:pPr marL="457200" lvl="0" indent="-355600" algn="l" rtl="0">
              <a:spcBef>
                <a:spcPts val="120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The system calculates trajectory paths, and overlays results on the original video frames, providing a clear and detailed analysis.</a:t>
            </a:r>
            <a:endParaRPr lang="en-US" dirty="0"/>
          </a:p>
        </p:txBody>
      </p:sp>
      <p:sp>
        <p:nvSpPr>
          <p:cNvPr id="172" name="Google Shape;172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7" name="Google Shape;107;p19">
            <a:extLst>
              <a:ext uri="{FF2B5EF4-FFF2-40B4-BE49-F238E27FC236}">
                <a16:creationId xmlns:a16="http://schemas.microsoft.com/office/drawing/2014/main" id="{E9A75734-1E42-4C15-85D4-043E33406F67}"/>
              </a:ext>
            </a:extLst>
          </p:cNvPr>
          <p:cNvSpPr txBox="1">
            <a:spLocks/>
          </p:cNvSpPr>
          <p:nvPr/>
        </p:nvSpPr>
        <p:spPr>
          <a:xfrm>
            <a:off x="464100" y="5974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 b="0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>
              <a:buSzPct val="36666"/>
              <a:buFont typeface="Arial"/>
              <a:buNone/>
            </a:pPr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Conclusion:</a:t>
            </a:r>
          </a:p>
          <a:p>
            <a:pPr>
              <a:buSzPct val="36666"/>
              <a:buFont typeface="Arial"/>
              <a:buNone/>
            </a:pPr>
            <a:endParaRPr lang="en-US" b="1" dirty="0">
              <a:latin typeface="Arial"/>
              <a:ea typeface="Arial"/>
              <a:cs typeface="Arial"/>
              <a:sym typeface="Arial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C1538-0B2F-409E-9B22-2975C63B2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8" y="2006317"/>
            <a:ext cx="8520600" cy="613200"/>
          </a:xfrm>
        </p:spPr>
        <p:txBody>
          <a:bodyPr>
            <a:noAutofit/>
          </a:bodyPr>
          <a:lstStyle/>
          <a:p>
            <a:pPr algn="ctr"/>
            <a:r>
              <a:rPr lang="en-US" sz="5400" dirty="0">
                <a:solidFill>
                  <a:srgbClr val="26A69A"/>
                </a:solidFill>
                <a:latin typeface="+mj-lt"/>
              </a:rPr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408FB4-BD5D-48E7-BF77-C7A5F50F2D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20099283"/>
      </p:ext>
    </p:extLst>
  </p:cSld>
  <p:clrMapOvr>
    <a:masterClrMapping/>
  </p:clrMapOvr>
</p:sld>
</file>

<file path=ppt/theme/theme1.xml><?xml version="1.0" encoding="utf-8"?>
<a:theme xmlns:a="http://schemas.openxmlformats.org/drawingml/2006/main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517</Words>
  <Application>Microsoft Office PowerPoint</Application>
  <PresentationFormat>On-screen Show (16:9)</PresentationFormat>
  <Paragraphs>83</Paragraphs>
  <Slides>13</Slides>
  <Notes>11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Old Standard TT</vt:lpstr>
      <vt:lpstr>Arial</vt:lpstr>
      <vt:lpstr>Times New Roman</vt:lpstr>
      <vt:lpstr>Paperback</vt:lpstr>
      <vt:lpstr>PowerPoint Presentation</vt:lpstr>
      <vt:lpstr>Contents of Presentation </vt:lpstr>
      <vt:lpstr>Introduction</vt:lpstr>
      <vt:lpstr>Objectives</vt:lpstr>
      <vt:lpstr>PowerPoint Presentation</vt:lpstr>
      <vt:lpstr>Methodology..</vt:lpstr>
      <vt:lpstr>Methodology..  </vt:lpstr>
      <vt:lpstr>Methodology..  </vt:lpstr>
      <vt:lpstr>Methodology..  </vt:lpstr>
      <vt:lpstr>Result  </vt:lpstr>
      <vt:lpstr>Recorded Project..  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Jobair Al Nahian</dc:creator>
  <cp:lastModifiedBy>Jobair Al Nahian</cp:lastModifiedBy>
  <cp:revision>2</cp:revision>
  <dcterms:modified xsi:type="dcterms:W3CDTF">2024-07-01T07:43:25Z</dcterms:modified>
</cp:coreProperties>
</file>